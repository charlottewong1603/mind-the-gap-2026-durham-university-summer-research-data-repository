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Roboto"/>
      <p:regular r:id="rId20"/>
      <p:bold r:id="rId21"/>
      <p:italic r:id="rId22"/>
      <p:boldItalic r:id="rId23"/>
    </p:embeddedFont>
    <p:embeddedFont>
      <p:font typeface="La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Lato-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italic.fntdata"/><Relationship Id="rId25" Type="http://schemas.openxmlformats.org/officeDocument/2006/relationships/font" Target="fonts/Lato-bold.fntdata"/><Relationship Id="rId27"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19" Type="http://schemas.openxmlformats.org/officeDocument/2006/relationships/font" Target="fonts/Raleway-boldItalic.fntdata"/><Relationship Id="rId18" Type="http://schemas.openxmlformats.org/officeDocument/2006/relationships/font" Target="fonts/Ralew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77a956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77a956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endParaRPr/>
          </a:p>
          <a:p>
            <a:pPr indent="-298450" lvl="0" marL="457200" rtl="0" algn="l">
              <a:spcBef>
                <a:spcPts val="0"/>
              </a:spcBef>
              <a:spcAft>
                <a:spcPts val="0"/>
              </a:spcAft>
              <a:buSzPts val="1100"/>
              <a:buChar char="-"/>
            </a:pPr>
            <a:r>
              <a:rPr lang="en"/>
              <a:t>20s: the issue is that international students come from different systems worldwide with different learning styles and different emphasis on skills. Meanwhile in UK university, there are mismatched expectations between what students believe undergraduate mathematics requires and the skills lecturers expect students to already have.</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en"/>
              <a:t>20s. At Durham University we provide some pre-university transition resources including a sw and dt, my research investigates how effective these resources are for improving the transition for international students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20s I did this by performing some comparative analysis between past paper questions from 5 international hs curricula, which are … , our diagnostic test, and early analysis I assessments - using early assessments show that the skills these questions assess are the skills lecturers expect.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77a956f82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77a956f82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Mention darlington and a level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77a956f82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77a956f82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 weighting of marks in hs go to group a, least to group c, meanwhile uni…</a:t>
            </a:r>
            <a:endParaRPr/>
          </a:p>
          <a:p>
            <a:pPr indent="0" lvl="0" marL="0" rtl="0" algn="l">
              <a:spcBef>
                <a:spcPts val="0"/>
              </a:spcBef>
              <a:spcAft>
                <a:spcPts val="0"/>
              </a:spcAft>
              <a:buNone/>
            </a:pPr>
            <a:r>
              <a:rPr lang="en"/>
              <a:t>W</a:t>
            </a:r>
            <a:r>
              <a:rPr lang="en"/>
              <a:t>e’d want our dt to … however it’s clear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b0033981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fb0033981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the data for the top 2 most expected skills in uni are alarming, J&amp;I from group C 55% </a:t>
            </a:r>
            <a:r>
              <a:rPr lang="en"/>
              <a:t>while</a:t>
            </a:r>
            <a:r>
              <a:rPr lang="en"/>
              <a:t> HS mostly &lt;10%, dt 1 question, meanwhile the 2nd most emphasised skill (RUOP) only 38% in uni compared to 57% in DT and very high in some HS including 78% in HK.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8451af3b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8451af3b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40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b0033981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b0033981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033981d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033981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a:t>
            </a:r>
            <a:endParaRPr/>
          </a:p>
          <a:p>
            <a:pPr indent="0" lvl="0" marL="0" rtl="0" algn="l">
              <a:spcBef>
                <a:spcPts val="0"/>
              </a:spcBef>
              <a:spcAft>
                <a:spcPts val="0"/>
              </a:spcAft>
              <a:buNone/>
            </a:pPr>
            <a:r>
              <a:rPr lang="en"/>
              <a:t>STACK not moodle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9cc0914c6_7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9cc0914c6_7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8451af3b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8451af3b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Mention clare can also answer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 name="Google Shape;13;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grpSp>
        <p:nvGrpSpPr>
          <p:cNvPr id="15" name="Google Shape;15;p3"/>
          <p:cNvGrpSpPr/>
          <p:nvPr/>
        </p:nvGrpSpPr>
        <p:grpSpPr>
          <a:xfrm>
            <a:off x="830392" y="1191256"/>
            <a:ext cx="745763" cy="45826"/>
            <a:chOff x="4580561" y="2589004"/>
            <a:chExt cx="1064464" cy="25200"/>
          </a:xfrm>
        </p:grpSpPr>
        <p:sp>
          <p:nvSpPr>
            <p:cNvPr id="16" name="Google Shape;16;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3" name="Google Shape;23;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4" name="Google Shape;24;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 name="Google Shape;27;p5"/>
          <p:cNvGrpSpPr/>
          <p:nvPr/>
        </p:nvGrpSpPr>
        <p:grpSpPr>
          <a:xfrm>
            <a:off x="830392" y="1191256"/>
            <a:ext cx="745763" cy="45826"/>
            <a:chOff x="4580561" y="2589004"/>
            <a:chExt cx="1064464" cy="25200"/>
          </a:xfrm>
        </p:grpSpPr>
        <p:sp>
          <p:nvSpPr>
            <p:cNvPr id="28" name="Google Shape;28;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 name="Google Shape;30;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1" name="Google Shape;31;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 name="Google Shape;32;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3" name="Google Shape;33;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6"/>
          <p:cNvGrpSpPr/>
          <p:nvPr/>
        </p:nvGrpSpPr>
        <p:grpSpPr>
          <a:xfrm>
            <a:off x="830392" y="1191256"/>
            <a:ext cx="745763" cy="45826"/>
            <a:chOff x="4580561" y="2589004"/>
            <a:chExt cx="1064464" cy="25200"/>
          </a:xfrm>
        </p:grpSpPr>
        <p:sp>
          <p:nvSpPr>
            <p:cNvPr id="37" name="Google Shape;37;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0" name="Google Shape;40;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 name="Google Shape;43;p7"/>
          <p:cNvGrpSpPr/>
          <p:nvPr/>
        </p:nvGrpSpPr>
        <p:grpSpPr>
          <a:xfrm>
            <a:off x="830392" y="1191256"/>
            <a:ext cx="745763" cy="45826"/>
            <a:chOff x="4580561" y="2589004"/>
            <a:chExt cx="1064464" cy="25200"/>
          </a:xfrm>
        </p:grpSpPr>
        <p:sp>
          <p:nvSpPr>
            <p:cNvPr id="44" name="Google Shape;44;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7" name="Google Shape;47;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8" name="Google Shape;48;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9" name="Shape 49"/>
        <p:cNvGrpSpPr/>
        <p:nvPr/>
      </p:nvGrpSpPr>
      <p:grpSpPr>
        <a:xfrm>
          <a:off x="0" y="0"/>
          <a:ext cx="0" cy="0"/>
          <a:chOff x="0" y="0"/>
          <a:chExt cx="0" cy="0"/>
        </a:xfrm>
      </p:grpSpPr>
      <p:grpSp>
        <p:nvGrpSpPr>
          <p:cNvPr id="50" name="Google Shape;50;p8"/>
          <p:cNvGrpSpPr/>
          <p:nvPr/>
        </p:nvGrpSpPr>
        <p:grpSpPr>
          <a:xfrm>
            <a:off x="830392" y="4169130"/>
            <a:ext cx="745763" cy="45826"/>
            <a:chOff x="4580561" y="2589004"/>
            <a:chExt cx="1064464" cy="25200"/>
          </a:xfrm>
        </p:grpSpPr>
        <p:sp>
          <p:nvSpPr>
            <p:cNvPr id="51" name="Google Shape;51;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 name="Google Shape;53;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54" name="Google Shape;54;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5" name="Shape 55"/>
        <p:cNvGrpSpPr/>
        <p:nvPr/>
      </p:nvGrpSpPr>
      <p:grpSpPr>
        <a:xfrm>
          <a:off x="0" y="0"/>
          <a:ext cx="0" cy="0"/>
          <a:chOff x="0" y="0"/>
          <a:chExt cx="0" cy="0"/>
        </a:xfrm>
      </p:grpSpPr>
      <p:sp>
        <p:nvSpPr>
          <p:cNvPr id="56" name="Google Shape;56;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 name="Google Shape;57;p9"/>
          <p:cNvGrpSpPr/>
          <p:nvPr/>
        </p:nvGrpSpPr>
        <p:grpSpPr>
          <a:xfrm>
            <a:off x="830392" y="1191256"/>
            <a:ext cx="745763" cy="45826"/>
            <a:chOff x="4580561" y="2589004"/>
            <a:chExt cx="1064464" cy="25200"/>
          </a:xfrm>
        </p:grpSpPr>
        <p:sp>
          <p:nvSpPr>
            <p:cNvPr id="58" name="Google Shape;58;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1" name="Google Shape;61;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2" name="Google Shape;62;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66" name="Google Shape;66;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7" name="Shape 67"/>
        <p:cNvGrpSpPr/>
        <p:nvPr/>
      </p:nvGrpSpPr>
      <p:grpSpPr>
        <a:xfrm>
          <a:off x="0" y="0"/>
          <a:ext cx="0" cy="0"/>
          <a:chOff x="0" y="0"/>
          <a:chExt cx="0" cy="0"/>
        </a:xfrm>
      </p:grpSpPr>
      <p:grpSp>
        <p:nvGrpSpPr>
          <p:cNvPr id="68" name="Google Shape;68;p11"/>
          <p:cNvGrpSpPr/>
          <p:nvPr/>
        </p:nvGrpSpPr>
        <p:grpSpPr>
          <a:xfrm>
            <a:off x="830392" y="4169130"/>
            <a:ext cx="745763" cy="45826"/>
            <a:chOff x="4580561" y="2589004"/>
            <a:chExt cx="1064464" cy="25200"/>
          </a:xfrm>
        </p:grpSpPr>
        <p:sp>
          <p:nvSpPr>
            <p:cNvPr id="69" name="Google Shape;69;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2" name="Google Shape;72;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3" name="Google Shape;73;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 Id="rId10" Type="http://schemas.openxmlformats.org/officeDocument/2006/relationships/image" Target="../media/image7.png"/><Relationship Id="rId9"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3.png"/><Relationship Id="rId7" Type="http://schemas.openxmlformats.org/officeDocument/2006/relationships/image" Target="../media/image5.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600"/>
              <a:t>Mind the Gap: </a:t>
            </a:r>
            <a:endParaRPr sz="3600"/>
          </a:p>
          <a:p>
            <a:pPr indent="0" lvl="0" marL="0" rtl="0" algn="l">
              <a:lnSpc>
                <a:spcPct val="115000"/>
              </a:lnSpc>
              <a:spcBef>
                <a:spcPts val="0"/>
              </a:spcBef>
              <a:spcAft>
                <a:spcPts val="0"/>
              </a:spcAft>
              <a:buNone/>
            </a:pPr>
            <a:r>
              <a:rPr lang="en" sz="2200"/>
              <a:t>Improving Transitional Support Materials for Incoming Mathematics Undergraduates</a:t>
            </a:r>
            <a:endParaRPr sz="2200"/>
          </a:p>
          <a:p>
            <a:pPr indent="0" lvl="0" marL="0" rtl="0" algn="l">
              <a:spcBef>
                <a:spcPts val="0"/>
              </a:spcBef>
              <a:spcAft>
                <a:spcPts val="0"/>
              </a:spcAft>
              <a:buNone/>
            </a:pPr>
            <a:r>
              <a:t/>
            </a:r>
            <a:endParaRPr sz="2400"/>
          </a:p>
        </p:txBody>
      </p:sp>
      <p:sp>
        <p:nvSpPr>
          <p:cNvPr id="81" name="Google Shape;81;p13"/>
          <p:cNvSpPr txBox="1"/>
          <p:nvPr>
            <p:ph idx="1" type="subTitle"/>
          </p:nvPr>
        </p:nvSpPr>
        <p:spPr>
          <a:xfrm>
            <a:off x="729450" y="2987150"/>
            <a:ext cx="7688100" cy="181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Charlotte Wong, Sam Cuthbertson</a:t>
            </a:r>
            <a:endParaRPr/>
          </a:p>
          <a:p>
            <a:pPr indent="0" lvl="0" marL="0" rtl="0" algn="l">
              <a:spcBef>
                <a:spcPts val="0"/>
              </a:spcBef>
              <a:spcAft>
                <a:spcPts val="0"/>
              </a:spcAft>
              <a:buNone/>
            </a:pPr>
            <a:r>
              <a:rPr lang="en"/>
              <a:t>Durham University Department of Mathematical Sciences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Sep 3, 2026 CETL-MSOR</a:t>
            </a:r>
            <a:endParaRPr/>
          </a:p>
        </p:txBody>
      </p:sp>
      <p:pic>
        <p:nvPicPr>
          <p:cNvPr id="82" name="Google Shape;82;p13"/>
          <p:cNvPicPr preferRelativeResize="0"/>
          <p:nvPr/>
        </p:nvPicPr>
        <p:blipFill>
          <a:blip r:embed="rId3">
            <a:alphaModFix/>
          </a:blip>
          <a:stretch>
            <a:fillRect/>
          </a:stretch>
        </p:blipFill>
        <p:spPr>
          <a:xfrm>
            <a:off x="6804378" y="2442900"/>
            <a:ext cx="1736450" cy="2451476"/>
          </a:xfrm>
          <a:prstGeom prst="rect">
            <a:avLst/>
          </a:prstGeom>
          <a:noFill/>
          <a:ln>
            <a:noFill/>
          </a:ln>
        </p:spPr>
      </p:pic>
      <p:sp>
        <p:nvSpPr>
          <p:cNvPr id="83" name="Google Shape;83;p13"/>
          <p:cNvSpPr/>
          <p:nvPr/>
        </p:nvSpPr>
        <p:spPr>
          <a:xfrm>
            <a:off x="0" y="0"/>
            <a:ext cx="9144000" cy="96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descr="Durham-University-logo-transparent | teesneuro.org" id="84" name="Google Shape;84;p13"/>
          <p:cNvPicPr preferRelativeResize="0"/>
          <p:nvPr/>
        </p:nvPicPr>
        <p:blipFill>
          <a:blip r:embed="rId4">
            <a:alphaModFix/>
          </a:blip>
          <a:stretch>
            <a:fillRect/>
          </a:stretch>
        </p:blipFill>
        <p:spPr>
          <a:xfrm>
            <a:off x="729453" y="72165"/>
            <a:ext cx="1892750" cy="816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4"/>
          <p:cNvSpPr txBox="1"/>
          <p:nvPr>
            <p:ph type="title"/>
          </p:nvPr>
        </p:nvSpPr>
        <p:spPr>
          <a:xfrm>
            <a:off x="294775" y="12"/>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Problem</a:t>
            </a:r>
            <a:endParaRPr/>
          </a:p>
        </p:txBody>
      </p:sp>
      <p:sp>
        <p:nvSpPr>
          <p:cNvPr id="90" name="Google Shape;90;p14"/>
          <p:cNvSpPr txBox="1"/>
          <p:nvPr/>
        </p:nvSpPr>
        <p:spPr>
          <a:xfrm>
            <a:off x="6780600" y="1636525"/>
            <a:ext cx="2305200" cy="5991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300">
                <a:solidFill>
                  <a:schemeClr val="accent1"/>
                </a:solidFill>
                <a:latin typeface="Lato"/>
                <a:ea typeface="Lato"/>
                <a:cs typeface="Lato"/>
                <a:sym typeface="Lato"/>
              </a:rPr>
              <a:t>Low continuation rates </a:t>
            </a:r>
            <a:endParaRPr sz="1300">
              <a:solidFill>
                <a:schemeClr val="accent1"/>
              </a:solidFill>
              <a:latin typeface="Lato"/>
              <a:ea typeface="Lato"/>
              <a:cs typeface="Lato"/>
              <a:sym typeface="Lato"/>
            </a:endParaRPr>
          </a:p>
          <a:p>
            <a:pPr indent="0" lvl="0" marL="0" rtl="0" algn="ctr">
              <a:lnSpc>
                <a:spcPct val="150000"/>
              </a:lnSpc>
              <a:spcBef>
                <a:spcPts val="0"/>
              </a:spcBef>
              <a:spcAft>
                <a:spcPts val="0"/>
              </a:spcAft>
              <a:buNone/>
            </a:pPr>
            <a:r>
              <a:rPr lang="en" sz="1300">
                <a:solidFill>
                  <a:schemeClr val="accent1"/>
                </a:solidFill>
                <a:latin typeface="Lato"/>
                <a:ea typeface="Lato"/>
                <a:cs typeface="Lato"/>
                <a:sym typeface="Lato"/>
              </a:rPr>
              <a:t>Mismatched expectations </a:t>
            </a:r>
            <a:endParaRPr sz="1300">
              <a:solidFill>
                <a:schemeClr val="accent1"/>
              </a:solidFill>
              <a:latin typeface="Lato"/>
              <a:ea typeface="Lato"/>
              <a:cs typeface="Lato"/>
              <a:sym typeface="Lato"/>
            </a:endParaRPr>
          </a:p>
          <a:p>
            <a:pPr indent="0" lvl="0" marL="0" rtl="0" algn="ctr">
              <a:lnSpc>
                <a:spcPct val="150000"/>
              </a:lnSpc>
              <a:spcBef>
                <a:spcPts val="0"/>
              </a:spcBef>
              <a:spcAft>
                <a:spcPts val="0"/>
              </a:spcAft>
              <a:buNone/>
            </a:pPr>
            <a:r>
              <a:t/>
            </a:r>
            <a:endParaRPr sz="1300">
              <a:solidFill>
                <a:schemeClr val="accent1"/>
              </a:solidFill>
              <a:latin typeface="Lato"/>
              <a:ea typeface="Lato"/>
              <a:cs typeface="Lato"/>
              <a:sym typeface="Lato"/>
            </a:endParaRPr>
          </a:p>
        </p:txBody>
      </p:sp>
      <p:sp>
        <p:nvSpPr>
          <p:cNvPr id="91" name="Google Shape;91;p14"/>
          <p:cNvSpPr txBox="1"/>
          <p:nvPr/>
        </p:nvSpPr>
        <p:spPr>
          <a:xfrm>
            <a:off x="520200" y="1520700"/>
            <a:ext cx="2020200" cy="1416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300">
                <a:solidFill>
                  <a:schemeClr val="accent1"/>
                </a:solidFill>
                <a:latin typeface="Lato"/>
                <a:ea typeface="Lato"/>
                <a:cs typeface="Lato"/>
                <a:sym typeface="Lato"/>
              </a:rPr>
              <a:t>Different learning styles and skills worldwide</a:t>
            </a:r>
            <a:endParaRPr sz="1300">
              <a:solidFill>
                <a:schemeClr val="accent1"/>
              </a:solidFill>
              <a:latin typeface="Lato"/>
              <a:ea typeface="Lato"/>
              <a:cs typeface="Lato"/>
              <a:sym typeface="Lato"/>
            </a:endParaRPr>
          </a:p>
        </p:txBody>
      </p:sp>
      <p:grpSp>
        <p:nvGrpSpPr>
          <p:cNvPr id="92" name="Google Shape;92;p14"/>
          <p:cNvGrpSpPr/>
          <p:nvPr/>
        </p:nvGrpSpPr>
        <p:grpSpPr>
          <a:xfrm>
            <a:off x="838964" y="3147944"/>
            <a:ext cx="768000" cy="610500"/>
            <a:chOff x="1581577" y="3128069"/>
            <a:chExt cx="768000" cy="610500"/>
          </a:xfrm>
        </p:grpSpPr>
        <p:pic>
          <p:nvPicPr>
            <p:cNvPr id="93" name="Google Shape;93;p14"/>
            <p:cNvPicPr preferRelativeResize="0"/>
            <p:nvPr/>
          </p:nvPicPr>
          <p:blipFill>
            <a:blip r:embed="rId3">
              <a:alphaModFix amt="40000"/>
            </a:blip>
            <a:stretch>
              <a:fillRect/>
            </a:stretch>
          </p:blipFill>
          <p:spPr>
            <a:xfrm>
              <a:off x="1638746" y="3128069"/>
              <a:ext cx="585600" cy="610500"/>
            </a:xfrm>
            <a:prstGeom prst="ellipse">
              <a:avLst/>
            </a:prstGeom>
            <a:noFill/>
            <a:ln cap="flat" cmpd="sng" w="19050">
              <a:solidFill>
                <a:schemeClr val="accent5"/>
              </a:solidFill>
              <a:prstDash val="solid"/>
              <a:round/>
              <a:headEnd len="sm" w="sm" type="none"/>
              <a:tailEnd len="sm" w="sm" type="none"/>
            </a:ln>
          </p:spPr>
        </p:pic>
        <p:sp>
          <p:nvSpPr>
            <p:cNvPr id="94" name="Google Shape;94;p14"/>
            <p:cNvSpPr txBox="1"/>
            <p:nvPr/>
          </p:nvSpPr>
          <p:spPr>
            <a:xfrm>
              <a:off x="1581577" y="3242011"/>
              <a:ext cx="768000" cy="3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accent5"/>
                  </a:solidFill>
                  <a:latin typeface="Lato"/>
                  <a:ea typeface="Lato"/>
                  <a:cs typeface="Lato"/>
                  <a:sym typeface="Lato"/>
                </a:rPr>
                <a:t>GaoKao</a:t>
              </a:r>
              <a:endParaRPr b="1" sz="1100">
                <a:solidFill>
                  <a:schemeClr val="accent5"/>
                </a:solidFill>
                <a:latin typeface="Lato"/>
                <a:ea typeface="Lato"/>
                <a:cs typeface="Lato"/>
                <a:sym typeface="Lato"/>
              </a:endParaRPr>
            </a:p>
          </p:txBody>
        </p:sp>
      </p:grpSp>
      <p:grpSp>
        <p:nvGrpSpPr>
          <p:cNvPr id="95" name="Google Shape;95;p14"/>
          <p:cNvGrpSpPr/>
          <p:nvPr/>
        </p:nvGrpSpPr>
        <p:grpSpPr>
          <a:xfrm>
            <a:off x="1974483" y="2533798"/>
            <a:ext cx="768005" cy="580219"/>
            <a:chOff x="1410055" y="3831488"/>
            <a:chExt cx="808086" cy="610500"/>
          </a:xfrm>
        </p:grpSpPr>
        <p:pic>
          <p:nvPicPr>
            <p:cNvPr id="96" name="Google Shape;96;p14"/>
            <p:cNvPicPr preferRelativeResize="0"/>
            <p:nvPr/>
          </p:nvPicPr>
          <p:blipFill>
            <a:blip r:embed="rId4">
              <a:alphaModFix amt="50000"/>
            </a:blip>
            <a:stretch>
              <a:fillRect/>
            </a:stretch>
          </p:blipFill>
          <p:spPr>
            <a:xfrm>
              <a:off x="1410055" y="3831488"/>
              <a:ext cx="610500" cy="610500"/>
            </a:xfrm>
            <a:prstGeom prst="ellipse">
              <a:avLst/>
            </a:prstGeom>
            <a:noFill/>
            <a:ln cap="flat" cmpd="sng" w="18100">
              <a:solidFill>
                <a:schemeClr val="accent5"/>
              </a:solidFill>
              <a:prstDash val="solid"/>
              <a:round/>
              <a:headEnd len="sm" w="sm" type="none"/>
              <a:tailEnd len="sm" w="sm" type="none"/>
            </a:ln>
          </p:spPr>
        </p:pic>
        <p:sp>
          <p:nvSpPr>
            <p:cNvPr id="97" name="Google Shape;97;p14"/>
            <p:cNvSpPr txBox="1"/>
            <p:nvPr/>
          </p:nvSpPr>
          <p:spPr>
            <a:xfrm>
              <a:off x="1450141" y="3961890"/>
              <a:ext cx="768000" cy="327000"/>
            </a:xfrm>
            <a:prstGeom prst="rect">
              <a:avLst/>
            </a:prstGeom>
            <a:noFill/>
            <a:ln>
              <a:noFill/>
            </a:ln>
          </p:spPr>
          <p:txBody>
            <a:bodyPr anchorCtr="0" anchor="t" bIns="86900" lIns="86900" spcFirstLastPara="1" rIns="86900" wrap="square" tIns="86900">
              <a:noAutofit/>
            </a:bodyPr>
            <a:lstStyle/>
            <a:p>
              <a:pPr indent="0" lvl="0" marL="0" rtl="0" algn="l">
                <a:spcBef>
                  <a:spcPts val="0"/>
                </a:spcBef>
                <a:spcAft>
                  <a:spcPts val="0"/>
                </a:spcAft>
                <a:buNone/>
              </a:pPr>
              <a:r>
                <a:rPr b="1" lang="en" sz="1045">
                  <a:solidFill>
                    <a:schemeClr val="accent5"/>
                  </a:solidFill>
                  <a:highlight>
                    <a:schemeClr val="lt1"/>
                  </a:highlight>
                  <a:latin typeface="Lato"/>
                  <a:ea typeface="Lato"/>
                  <a:cs typeface="Lato"/>
                  <a:sym typeface="Lato"/>
                </a:rPr>
                <a:t>CBSE</a:t>
              </a:r>
              <a:endParaRPr b="1" sz="1045">
                <a:solidFill>
                  <a:schemeClr val="accent5"/>
                </a:solidFill>
                <a:highlight>
                  <a:schemeClr val="lt1"/>
                </a:highlight>
                <a:latin typeface="Lato"/>
                <a:ea typeface="Lato"/>
                <a:cs typeface="Lato"/>
                <a:sym typeface="Lato"/>
              </a:endParaRPr>
            </a:p>
          </p:txBody>
        </p:sp>
      </p:grpSp>
      <p:pic>
        <p:nvPicPr>
          <p:cNvPr id="98" name="Google Shape;98;p14"/>
          <p:cNvPicPr preferRelativeResize="0"/>
          <p:nvPr/>
        </p:nvPicPr>
        <p:blipFill>
          <a:blip r:embed="rId5">
            <a:alphaModFix amt="50000"/>
          </a:blip>
          <a:stretch>
            <a:fillRect/>
          </a:stretch>
        </p:blipFill>
        <p:spPr>
          <a:xfrm>
            <a:off x="475625" y="2524362"/>
            <a:ext cx="610500" cy="599100"/>
          </a:xfrm>
          <a:prstGeom prst="ellipse">
            <a:avLst/>
          </a:prstGeom>
          <a:solidFill>
            <a:srgbClr val="0B5394"/>
          </a:solidFill>
          <a:ln cap="flat" cmpd="sng" w="19050">
            <a:solidFill>
              <a:schemeClr val="accent5"/>
            </a:solidFill>
            <a:prstDash val="solid"/>
            <a:round/>
            <a:headEnd len="sm" w="sm" type="none"/>
            <a:tailEnd len="sm" w="sm" type="none"/>
          </a:ln>
        </p:spPr>
      </p:pic>
      <p:grpSp>
        <p:nvGrpSpPr>
          <p:cNvPr id="99" name="Google Shape;99;p14"/>
          <p:cNvGrpSpPr/>
          <p:nvPr/>
        </p:nvGrpSpPr>
        <p:grpSpPr>
          <a:xfrm>
            <a:off x="1254900" y="2548488"/>
            <a:ext cx="550800" cy="550800"/>
            <a:chOff x="0" y="623725"/>
            <a:chExt cx="550800" cy="550800"/>
          </a:xfrm>
        </p:grpSpPr>
        <p:pic>
          <p:nvPicPr>
            <p:cNvPr id="100" name="Google Shape;100;p14"/>
            <p:cNvPicPr preferRelativeResize="0"/>
            <p:nvPr/>
          </p:nvPicPr>
          <p:blipFill>
            <a:blip r:embed="rId6">
              <a:alphaModFix amt="50000"/>
            </a:blip>
            <a:stretch>
              <a:fillRect/>
            </a:stretch>
          </p:blipFill>
          <p:spPr>
            <a:xfrm>
              <a:off x="0" y="623725"/>
              <a:ext cx="550800" cy="550800"/>
            </a:xfrm>
            <a:prstGeom prst="ellipse">
              <a:avLst/>
            </a:prstGeom>
            <a:noFill/>
            <a:ln>
              <a:noFill/>
            </a:ln>
          </p:spPr>
        </p:pic>
        <p:sp>
          <p:nvSpPr>
            <p:cNvPr id="101" name="Google Shape;101;p14"/>
            <p:cNvSpPr/>
            <p:nvPr/>
          </p:nvSpPr>
          <p:spPr>
            <a:xfrm>
              <a:off x="0" y="623725"/>
              <a:ext cx="550800" cy="550800"/>
            </a:xfrm>
            <a:prstGeom prst="ellipse">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accent5"/>
                  </a:solidFill>
                  <a:latin typeface="Lato"/>
                  <a:ea typeface="Lato"/>
                  <a:cs typeface="Lato"/>
                  <a:sym typeface="Lato"/>
                </a:rPr>
                <a:t>AP</a:t>
              </a:r>
              <a:endParaRPr b="1" sz="1200">
                <a:solidFill>
                  <a:schemeClr val="accent5"/>
                </a:solidFill>
                <a:latin typeface="Lato"/>
                <a:ea typeface="Lato"/>
                <a:cs typeface="Lato"/>
                <a:sym typeface="Lato"/>
              </a:endParaRPr>
            </a:p>
          </p:txBody>
        </p:sp>
      </p:grpSp>
      <p:grpSp>
        <p:nvGrpSpPr>
          <p:cNvPr id="102" name="Google Shape;102;p14"/>
          <p:cNvGrpSpPr/>
          <p:nvPr/>
        </p:nvGrpSpPr>
        <p:grpSpPr>
          <a:xfrm>
            <a:off x="1606974" y="3158288"/>
            <a:ext cx="610500" cy="589800"/>
            <a:chOff x="2218149" y="3699088"/>
            <a:chExt cx="610500" cy="589800"/>
          </a:xfrm>
        </p:grpSpPr>
        <p:pic>
          <p:nvPicPr>
            <p:cNvPr id="103" name="Google Shape;103;p14"/>
            <p:cNvPicPr preferRelativeResize="0"/>
            <p:nvPr/>
          </p:nvPicPr>
          <p:blipFill>
            <a:blip r:embed="rId7">
              <a:alphaModFix amt="52999"/>
            </a:blip>
            <a:stretch>
              <a:fillRect/>
            </a:stretch>
          </p:blipFill>
          <p:spPr>
            <a:xfrm>
              <a:off x="2218149" y="3699088"/>
              <a:ext cx="610500" cy="589800"/>
            </a:xfrm>
            <a:prstGeom prst="ellipse">
              <a:avLst/>
            </a:prstGeom>
            <a:noFill/>
            <a:ln cap="flat" cmpd="sng" w="19050">
              <a:solidFill>
                <a:schemeClr val="accent5"/>
              </a:solidFill>
              <a:prstDash val="solid"/>
              <a:round/>
              <a:headEnd len="sm" w="sm" type="none"/>
              <a:tailEnd len="sm" w="sm" type="none"/>
            </a:ln>
          </p:spPr>
        </p:pic>
        <p:sp>
          <p:nvSpPr>
            <p:cNvPr id="104" name="Google Shape;104;p14"/>
            <p:cNvSpPr txBox="1"/>
            <p:nvPr/>
          </p:nvSpPr>
          <p:spPr>
            <a:xfrm>
              <a:off x="2266804" y="3830476"/>
              <a:ext cx="550800" cy="3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5"/>
                  </a:solidFill>
                  <a:latin typeface="Lato"/>
                  <a:ea typeface="Lato"/>
                  <a:cs typeface="Lato"/>
                  <a:sym typeface="Lato"/>
                </a:rPr>
                <a:t>DSE</a:t>
              </a:r>
              <a:endParaRPr b="1" sz="1300">
                <a:solidFill>
                  <a:schemeClr val="accent5"/>
                </a:solidFill>
                <a:latin typeface="Lato"/>
                <a:ea typeface="Lato"/>
                <a:cs typeface="Lato"/>
                <a:sym typeface="Lato"/>
              </a:endParaRPr>
            </a:p>
          </p:txBody>
        </p:sp>
      </p:grpSp>
      <p:pic>
        <p:nvPicPr>
          <p:cNvPr id="105" name="Google Shape;105;p14"/>
          <p:cNvPicPr preferRelativeResize="0"/>
          <p:nvPr/>
        </p:nvPicPr>
        <p:blipFill>
          <a:blip r:embed="rId8">
            <a:alphaModFix amt="50000"/>
          </a:blip>
          <a:stretch>
            <a:fillRect/>
          </a:stretch>
        </p:blipFill>
        <p:spPr>
          <a:xfrm>
            <a:off x="7269200" y="2351725"/>
            <a:ext cx="585600" cy="585600"/>
          </a:xfrm>
          <a:prstGeom prst="ellipse">
            <a:avLst/>
          </a:prstGeom>
          <a:noFill/>
          <a:ln cap="flat" cmpd="sng" w="19050">
            <a:solidFill>
              <a:schemeClr val="accent5"/>
            </a:solidFill>
            <a:prstDash val="solid"/>
            <a:round/>
            <a:headEnd len="sm" w="sm" type="none"/>
            <a:tailEnd len="sm" w="sm" type="none"/>
          </a:ln>
        </p:spPr>
      </p:pic>
      <p:pic>
        <p:nvPicPr>
          <p:cNvPr descr="Durham-University-logo-transparent | teesneuro.org" id="106" name="Google Shape;106;p14"/>
          <p:cNvPicPr preferRelativeResize="0"/>
          <p:nvPr/>
        </p:nvPicPr>
        <p:blipFill rotWithShape="1">
          <a:blip r:embed="rId9">
            <a:alphaModFix/>
          </a:blip>
          <a:srcRect b="26659" l="0" r="70900" t="0"/>
          <a:stretch/>
        </p:blipFill>
        <p:spPr>
          <a:xfrm>
            <a:off x="8046388" y="2344975"/>
            <a:ext cx="550800" cy="599100"/>
          </a:xfrm>
          <a:prstGeom prst="rect">
            <a:avLst/>
          </a:prstGeom>
          <a:noFill/>
          <a:ln>
            <a:noFill/>
          </a:ln>
        </p:spPr>
      </p:pic>
      <p:sp>
        <p:nvSpPr>
          <p:cNvPr id="107" name="Google Shape;107;p14"/>
          <p:cNvSpPr txBox="1"/>
          <p:nvPr/>
        </p:nvSpPr>
        <p:spPr>
          <a:xfrm>
            <a:off x="3609963" y="1636525"/>
            <a:ext cx="2020200" cy="1416900"/>
          </a:xfrm>
          <a:prstGeom prst="rect">
            <a:avLst/>
          </a:prstGeom>
          <a:noFill/>
          <a:ln>
            <a:noFill/>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300">
                <a:solidFill>
                  <a:schemeClr val="accent1"/>
                </a:solidFill>
                <a:latin typeface="Lato"/>
                <a:ea typeface="Lato"/>
                <a:cs typeface="Lato"/>
                <a:sym typeface="Lato"/>
              </a:rPr>
              <a:t>Pre-university </a:t>
            </a:r>
            <a:r>
              <a:rPr lang="en" sz="1300">
                <a:solidFill>
                  <a:schemeClr val="accent1"/>
                </a:solidFill>
                <a:latin typeface="Lato"/>
                <a:ea typeface="Lato"/>
                <a:cs typeface="Lato"/>
                <a:sym typeface="Lato"/>
              </a:rPr>
              <a:t>transitional materials</a:t>
            </a:r>
            <a:endParaRPr sz="1300">
              <a:solidFill>
                <a:schemeClr val="accent1"/>
              </a:solidFill>
              <a:latin typeface="Lato"/>
              <a:ea typeface="Lato"/>
              <a:cs typeface="Lato"/>
              <a:sym typeface="Lato"/>
            </a:endParaRPr>
          </a:p>
        </p:txBody>
      </p:sp>
      <p:pic>
        <p:nvPicPr>
          <p:cNvPr descr="Durham-University-logo-transparent | teesneuro.org" id="108" name="Google Shape;108;p14"/>
          <p:cNvPicPr preferRelativeResize="0"/>
          <p:nvPr/>
        </p:nvPicPr>
        <p:blipFill rotWithShape="1">
          <a:blip r:embed="rId9">
            <a:alphaModFix/>
          </a:blip>
          <a:srcRect b="26659" l="0" r="73968" t="0"/>
          <a:stretch/>
        </p:blipFill>
        <p:spPr>
          <a:xfrm>
            <a:off x="4373724" y="2294025"/>
            <a:ext cx="492726" cy="599100"/>
          </a:xfrm>
          <a:prstGeom prst="rect">
            <a:avLst/>
          </a:prstGeom>
          <a:noFill/>
          <a:ln>
            <a:noFill/>
          </a:ln>
        </p:spPr>
      </p:pic>
      <p:pic>
        <p:nvPicPr>
          <p:cNvPr id="109" name="Google Shape;109;p14"/>
          <p:cNvPicPr preferRelativeResize="0"/>
          <p:nvPr/>
        </p:nvPicPr>
        <p:blipFill>
          <a:blip r:embed="rId10">
            <a:alphaModFix/>
          </a:blip>
          <a:stretch>
            <a:fillRect/>
          </a:stretch>
        </p:blipFill>
        <p:spPr>
          <a:xfrm>
            <a:off x="3822389" y="1467400"/>
            <a:ext cx="1595387" cy="2252349"/>
          </a:xfrm>
          <a:prstGeom prst="rect">
            <a:avLst/>
          </a:prstGeom>
          <a:noFill/>
          <a:ln>
            <a:noFill/>
          </a:ln>
        </p:spPr>
      </p:pic>
      <p:sp>
        <p:nvSpPr>
          <p:cNvPr id="110" name="Google Shape;110;p14"/>
          <p:cNvSpPr txBox="1"/>
          <p:nvPr/>
        </p:nvSpPr>
        <p:spPr>
          <a:xfrm>
            <a:off x="6946500" y="3912375"/>
            <a:ext cx="1973400" cy="338700"/>
          </a:xfrm>
          <a:prstGeom prst="rect">
            <a:avLst/>
          </a:prstGeom>
          <a:solidFill>
            <a:schemeClr val="lt2"/>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rgbClr val="073763"/>
                </a:solidFill>
                <a:latin typeface="Roboto"/>
                <a:ea typeface="Roboto"/>
                <a:cs typeface="Roboto"/>
                <a:sym typeface="Roboto"/>
              </a:rPr>
              <a:t>Early Analysis I Assessments</a:t>
            </a:r>
            <a:endParaRPr sz="1000">
              <a:latin typeface="Roboto"/>
              <a:ea typeface="Roboto"/>
              <a:cs typeface="Roboto"/>
              <a:sym typeface="Roboto"/>
            </a:endParaRPr>
          </a:p>
        </p:txBody>
      </p:sp>
      <p:sp>
        <p:nvSpPr>
          <p:cNvPr id="111" name="Google Shape;111;p14"/>
          <p:cNvSpPr txBox="1"/>
          <p:nvPr/>
        </p:nvSpPr>
        <p:spPr>
          <a:xfrm>
            <a:off x="3633375" y="3912375"/>
            <a:ext cx="1973400" cy="338700"/>
          </a:xfrm>
          <a:prstGeom prst="rect">
            <a:avLst/>
          </a:prstGeom>
          <a:solidFill>
            <a:schemeClr val="lt2"/>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rgbClr val="073763"/>
                </a:solidFill>
                <a:latin typeface="Roboto"/>
                <a:ea typeface="Roboto"/>
                <a:cs typeface="Roboto"/>
                <a:sym typeface="Roboto"/>
              </a:rPr>
              <a:t>Durham Maths Diagnostic Test </a:t>
            </a:r>
            <a:endParaRPr sz="1000">
              <a:latin typeface="Roboto"/>
              <a:ea typeface="Roboto"/>
              <a:cs typeface="Roboto"/>
              <a:sym typeface="Roboto"/>
            </a:endParaRPr>
          </a:p>
        </p:txBody>
      </p:sp>
      <p:sp>
        <p:nvSpPr>
          <p:cNvPr id="112" name="Google Shape;112;p14"/>
          <p:cNvSpPr txBox="1"/>
          <p:nvPr/>
        </p:nvSpPr>
        <p:spPr>
          <a:xfrm>
            <a:off x="543600" y="3935313"/>
            <a:ext cx="1973400" cy="338700"/>
          </a:xfrm>
          <a:prstGeom prst="rect">
            <a:avLst/>
          </a:prstGeom>
          <a:solidFill>
            <a:schemeClr val="lt2"/>
          </a:solid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solidFill>
                  <a:srgbClr val="073763"/>
                </a:solidFill>
                <a:latin typeface="Roboto"/>
                <a:ea typeface="Roboto"/>
                <a:cs typeface="Roboto"/>
                <a:sym typeface="Roboto"/>
              </a:rPr>
              <a:t>Past Papers</a:t>
            </a:r>
            <a:endParaRPr sz="1000">
              <a:latin typeface="Roboto"/>
              <a:ea typeface="Roboto"/>
              <a:cs typeface="Roboto"/>
              <a:sym typeface="Roboto"/>
            </a:endParaRPr>
          </a:p>
        </p:txBody>
      </p:sp>
      <p:sp>
        <p:nvSpPr>
          <p:cNvPr id="113" name="Google Shape;113;p14"/>
          <p:cNvSpPr/>
          <p:nvPr/>
        </p:nvSpPr>
        <p:spPr>
          <a:xfrm>
            <a:off x="730025" y="881850"/>
            <a:ext cx="1145400" cy="4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5"/>
          <p:cNvSpPr txBox="1"/>
          <p:nvPr>
            <p:ph type="title"/>
          </p:nvPr>
        </p:nvSpPr>
        <p:spPr>
          <a:xfrm>
            <a:off x="310800" y="343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MATH Taxonomy</a:t>
            </a:r>
            <a:endParaRPr/>
          </a:p>
        </p:txBody>
      </p:sp>
      <p:pic>
        <p:nvPicPr>
          <p:cNvPr id="119" name="Google Shape;119;p15" title="Screenshot 2026-08-24 at 5.06.41 pm.png"/>
          <p:cNvPicPr preferRelativeResize="0"/>
          <p:nvPr/>
        </p:nvPicPr>
        <p:blipFill>
          <a:blip r:embed="rId3">
            <a:alphaModFix/>
          </a:blip>
          <a:stretch>
            <a:fillRect/>
          </a:stretch>
        </p:blipFill>
        <p:spPr>
          <a:xfrm>
            <a:off x="1670550" y="481750"/>
            <a:ext cx="6216051" cy="4202224"/>
          </a:xfrm>
          <a:prstGeom prst="rect">
            <a:avLst/>
          </a:prstGeom>
          <a:noFill/>
          <a:ln>
            <a:noFill/>
          </a:ln>
        </p:spPr>
      </p:pic>
      <p:sp>
        <p:nvSpPr>
          <p:cNvPr id="120" name="Google Shape;120;p15"/>
          <p:cNvSpPr/>
          <p:nvPr/>
        </p:nvSpPr>
        <p:spPr>
          <a:xfrm>
            <a:off x="730025" y="881850"/>
            <a:ext cx="940500" cy="3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 name="Google Shape;121;p15"/>
          <p:cNvSpPr txBox="1"/>
          <p:nvPr/>
        </p:nvSpPr>
        <p:spPr>
          <a:xfrm>
            <a:off x="8207325" y="4683975"/>
            <a:ext cx="11139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[1], [2]</a:t>
            </a:r>
            <a:endParaRPr sz="13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txBox="1"/>
          <p:nvPr>
            <p:ph type="title"/>
          </p:nvPr>
        </p:nvSpPr>
        <p:spPr>
          <a:xfrm>
            <a:off x="3571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Observations</a:t>
            </a:r>
            <a:endParaRPr/>
          </a:p>
        </p:txBody>
      </p:sp>
      <p:pic>
        <p:nvPicPr>
          <p:cNvPr id="127" name="Google Shape;127;p16" title="Chart"/>
          <p:cNvPicPr preferRelativeResize="0"/>
          <p:nvPr/>
        </p:nvPicPr>
        <p:blipFill>
          <a:blip r:embed="rId3">
            <a:alphaModFix/>
          </a:blip>
          <a:stretch>
            <a:fillRect/>
          </a:stretch>
        </p:blipFill>
        <p:spPr>
          <a:xfrm>
            <a:off x="912571" y="535200"/>
            <a:ext cx="7318866" cy="4525475"/>
          </a:xfrm>
          <a:prstGeom prst="rect">
            <a:avLst/>
          </a:prstGeom>
          <a:noFill/>
          <a:ln>
            <a:noFill/>
          </a:ln>
        </p:spPr>
      </p:pic>
      <p:sp>
        <p:nvSpPr>
          <p:cNvPr id="128" name="Google Shape;128;p16"/>
          <p:cNvSpPr/>
          <p:nvPr/>
        </p:nvSpPr>
        <p:spPr>
          <a:xfrm>
            <a:off x="130175" y="1040600"/>
            <a:ext cx="782400" cy="44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7"/>
          <p:cNvSpPr txBox="1"/>
          <p:nvPr>
            <p:ph type="title"/>
          </p:nvPr>
        </p:nvSpPr>
        <p:spPr>
          <a:xfrm>
            <a:off x="346222"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Observations</a:t>
            </a:r>
            <a:endParaRPr/>
          </a:p>
        </p:txBody>
      </p:sp>
      <p:pic>
        <p:nvPicPr>
          <p:cNvPr id="134" name="Google Shape;134;p17" title="Chart"/>
          <p:cNvPicPr preferRelativeResize="0"/>
          <p:nvPr/>
        </p:nvPicPr>
        <p:blipFill>
          <a:blip r:embed="rId3">
            <a:alphaModFix/>
          </a:blip>
          <a:stretch>
            <a:fillRect/>
          </a:stretch>
        </p:blipFill>
        <p:spPr>
          <a:xfrm>
            <a:off x="1225250" y="535200"/>
            <a:ext cx="7141194" cy="4500199"/>
          </a:xfrm>
          <a:prstGeom prst="rect">
            <a:avLst/>
          </a:prstGeom>
          <a:noFill/>
          <a:ln>
            <a:noFill/>
          </a:ln>
        </p:spPr>
      </p:pic>
      <p:sp>
        <p:nvSpPr>
          <p:cNvPr id="135" name="Google Shape;135;p17"/>
          <p:cNvSpPr/>
          <p:nvPr/>
        </p:nvSpPr>
        <p:spPr>
          <a:xfrm>
            <a:off x="730025" y="881850"/>
            <a:ext cx="578400" cy="44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6" name="Google Shape;136;p17"/>
          <p:cNvSpPr/>
          <p:nvPr/>
        </p:nvSpPr>
        <p:spPr>
          <a:xfrm>
            <a:off x="6728500" y="3886725"/>
            <a:ext cx="254700" cy="36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 name="Google Shape;137;p17"/>
          <p:cNvSpPr txBox="1"/>
          <p:nvPr/>
        </p:nvSpPr>
        <p:spPr>
          <a:xfrm>
            <a:off x="6646956" y="4079625"/>
            <a:ext cx="385500" cy="1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4.3</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txBox="1"/>
          <p:nvPr>
            <p:ph type="title"/>
          </p:nvPr>
        </p:nvSpPr>
        <p:spPr>
          <a:xfrm>
            <a:off x="37760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Suggested Design Principle 1</a:t>
            </a:r>
            <a:endParaRPr/>
          </a:p>
        </p:txBody>
      </p:sp>
      <p:sp>
        <p:nvSpPr>
          <p:cNvPr id="143" name="Google Shape;143;p18"/>
          <p:cNvSpPr/>
          <p:nvPr/>
        </p:nvSpPr>
        <p:spPr>
          <a:xfrm>
            <a:off x="229175" y="677725"/>
            <a:ext cx="8733900" cy="4379100"/>
          </a:xfrm>
          <a:prstGeom prst="roundRect">
            <a:avLst>
              <a:gd fmla="val 0" name="adj"/>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a:p>
            <a:pPr indent="0" lvl="0" marL="0" rtl="0" algn="just">
              <a:spcBef>
                <a:spcPts val="0"/>
              </a:spcBef>
              <a:spcAft>
                <a:spcPts val="0"/>
              </a:spcAft>
              <a:buNone/>
            </a:pPr>
            <a:r>
              <a:t/>
            </a:r>
            <a:endParaRPr sz="1000">
              <a:solidFill>
                <a:srgbClr val="073763"/>
              </a:solidFill>
            </a:endParaRPr>
          </a:p>
          <a:p>
            <a:pPr indent="0" lvl="0" marL="0" rtl="0" algn="l">
              <a:spcBef>
                <a:spcPts val="0"/>
              </a:spcBef>
              <a:spcAft>
                <a:spcPts val="0"/>
              </a:spcAft>
              <a:buNone/>
            </a:pPr>
            <a:r>
              <a:t/>
            </a:r>
            <a:endParaRPr sz="10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pic>
        <p:nvPicPr>
          <p:cNvPr id="144" name="Google Shape;144;p18" title="Screenshot 2026-07-23 at 12.27.45 pm.png"/>
          <p:cNvPicPr preferRelativeResize="0"/>
          <p:nvPr/>
        </p:nvPicPr>
        <p:blipFill rotWithShape="1">
          <a:blip r:embed="rId3">
            <a:alphaModFix/>
          </a:blip>
          <a:srcRect b="54481" l="0" r="0" t="0"/>
          <a:stretch/>
        </p:blipFill>
        <p:spPr>
          <a:xfrm>
            <a:off x="377600" y="1595150"/>
            <a:ext cx="5766424" cy="3056077"/>
          </a:xfrm>
          <a:prstGeom prst="rect">
            <a:avLst/>
          </a:prstGeom>
          <a:solidFill>
            <a:srgbClr val="C9DAF8"/>
          </a:solidFill>
          <a:ln>
            <a:noFill/>
          </a:ln>
        </p:spPr>
      </p:pic>
      <p:grpSp>
        <p:nvGrpSpPr>
          <p:cNvPr id="145" name="Google Shape;145;p18"/>
          <p:cNvGrpSpPr/>
          <p:nvPr/>
        </p:nvGrpSpPr>
        <p:grpSpPr>
          <a:xfrm>
            <a:off x="3915175" y="1741166"/>
            <a:ext cx="2228840" cy="1365467"/>
            <a:chOff x="6077071" y="1329983"/>
            <a:chExt cx="1380428" cy="845700"/>
          </a:xfrm>
        </p:grpSpPr>
        <p:sp>
          <p:nvSpPr>
            <p:cNvPr id="146" name="Google Shape;146;p18"/>
            <p:cNvSpPr/>
            <p:nvPr/>
          </p:nvSpPr>
          <p:spPr>
            <a:xfrm>
              <a:off x="6151300" y="1393131"/>
              <a:ext cx="1306200" cy="572100"/>
            </a:xfrm>
            <a:prstGeom prst="rect">
              <a:avLst/>
            </a:prstGeom>
            <a:solidFill>
              <a:srgbClr val="073763"/>
            </a:solidFill>
            <a:ln>
              <a:noFill/>
            </a:ln>
          </p:spPr>
          <p:txBody>
            <a:bodyPr anchorCtr="0" anchor="ctr" bIns="147600" lIns="147600" spcFirstLastPara="1" rIns="147600" wrap="square" tIns="147600">
              <a:noAutofit/>
            </a:bodyPr>
            <a:lstStyle/>
            <a:p>
              <a:pPr indent="0" lvl="0" marL="0" rtl="0" algn="ctr">
                <a:spcBef>
                  <a:spcPts val="0"/>
                </a:spcBef>
                <a:spcAft>
                  <a:spcPts val="0"/>
                </a:spcAft>
                <a:buNone/>
              </a:pPr>
              <a:r>
                <a:t/>
              </a:r>
              <a:endParaRPr sz="2260">
                <a:solidFill>
                  <a:schemeClr val="lt1"/>
                </a:solidFill>
              </a:endParaRPr>
            </a:p>
          </p:txBody>
        </p:sp>
        <p:sp>
          <p:nvSpPr>
            <p:cNvPr id="147" name="Google Shape;147;p18"/>
            <p:cNvSpPr txBox="1"/>
            <p:nvPr/>
          </p:nvSpPr>
          <p:spPr>
            <a:xfrm>
              <a:off x="6077071" y="1329983"/>
              <a:ext cx="1380300" cy="845700"/>
            </a:xfrm>
            <a:prstGeom prst="rect">
              <a:avLst/>
            </a:prstGeom>
            <a:noFill/>
            <a:ln>
              <a:noFill/>
            </a:ln>
          </p:spPr>
          <p:txBody>
            <a:bodyPr anchorCtr="0" anchor="t" bIns="147600" lIns="147600" spcFirstLastPara="1" rIns="147600" wrap="square" tIns="147600">
              <a:noAutofit/>
            </a:bodyPr>
            <a:lstStyle/>
            <a:p>
              <a:pPr indent="0" lvl="0" marL="0" rtl="0" algn="l">
                <a:spcBef>
                  <a:spcPts val="0"/>
                </a:spcBef>
                <a:spcAft>
                  <a:spcPts val="0"/>
                </a:spcAft>
                <a:buNone/>
              </a:pPr>
              <a:r>
                <a:rPr lang="en" sz="1615">
                  <a:solidFill>
                    <a:srgbClr val="C9DAF8"/>
                  </a:solidFill>
                </a:rPr>
                <a:t>a. </a:t>
              </a:r>
              <a:r>
                <a:rPr lang="en" sz="1615">
                  <a:solidFill>
                    <a:srgbClr val="C9DAF8"/>
                  </a:solidFill>
                </a:rPr>
                <a:t>Thorough steps show how to structure the proof</a:t>
              </a:r>
              <a:endParaRPr sz="1615">
                <a:solidFill>
                  <a:srgbClr val="C9DAF8"/>
                </a:solidFill>
              </a:endParaRPr>
            </a:p>
          </p:txBody>
        </p:sp>
      </p:grpSp>
      <p:sp>
        <p:nvSpPr>
          <p:cNvPr id="148" name="Google Shape;148;p18"/>
          <p:cNvSpPr/>
          <p:nvPr/>
        </p:nvSpPr>
        <p:spPr>
          <a:xfrm>
            <a:off x="6545151" y="4260525"/>
            <a:ext cx="1416300" cy="574800"/>
          </a:xfrm>
          <a:prstGeom prst="rect">
            <a:avLst/>
          </a:prstGeom>
          <a:solidFill>
            <a:srgbClr val="073763"/>
          </a:solidFill>
          <a:ln>
            <a:noFill/>
          </a:ln>
        </p:spPr>
        <p:txBody>
          <a:bodyPr anchorCtr="0" anchor="ctr" bIns="130800" lIns="130800" spcFirstLastPara="1" rIns="130800" wrap="square" tIns="130800">
            <a:noAutofit/>
          </a:bodyPr>
          <a:lstStyle/>
          <a:p>
            <a:pPr indent="0" lvl="0" marL="0" rtl="0" algn="ctr">
              <a:spcBef>
                <a:spcPts val="0"/>
              </a:spcBef>
              <a:spcAft>
                <a:spcPts val="0"/>
              </a:spcAft>
              <a:buNone/>
            </a:pPr>
            <a:r>
              <a:t/>
            </a:r>
            <a:endParaRPr sz="2003">
              <a:solidFill>
                <a:schemeClr val="lt1"/>
              </a:solidFill>
            </a:endParaRPr>
          </a:p>
        </p:txBody>
      </p:sp>
      <p:sp>
        <p:nvSpPr>
          <p:cNvPr id="149" name="Google Shape;149;p18"/>
          <p:cNvSpPr txBox="1"/>
          <p:nvPr/>
        </p:nvSpPr>
        <p:spPr>
          <a:xfrm>
            <a:off x="251225" y="4758575"/>
            <a:ext cx="3356400" cy="2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073763"/>
                </a:solidFill>
              </a:rPr>
              <a:t>Screenshots of my n</a:t>
            </a:r>
            <a:r>
              <a:rPr lang="en" sz="800">
                <a:solidFill>
                  <a:srgbClr val="073763"/>
                </a:solidFill>
              </a:rPr>
              <a:t>ewly revised chapter of summer workbook</a:t>
            </a:r>
            <a:endParaRPr sz="800">
              <a:solidFill>
                <a:srgbClr val="073763"/>
              </a:solidFill>
            </a:endParaRPr>
          </a:p>
        </p:txBody>
      </p:sp>
      <p:sp>
        <p:nvSpPr>
          <p:cNvPr id="150" name="Google Shape;150;p18"/>
          <p:cNvSpPr txBox="1"/>
          <p:nvPr/>
        </p:nvSpPr>
        <p:spPr>
          <a:xfrm>
            <a:off x="251225" y="677725"/>
            <a:ext cx="8689800" cy="562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600">
                <a:solidFill>
                  <a:srgbClr val="073763"/>
                </a:solidFill>
              </a:rPr>
              <a:t>1. Show expectations of mathematical writing</a:t>
            </a:r>
            <a:endParaRPr sz="1600"/>
          </a:p>
        </p:txBody>
      </p:sp>
      <p:pic>
        <p:nvPicPr>
          <p:cNvPr id="151" name="Google Shape;151;p18" title="Screenshot 2026-07-23 at 12.27.45 pm.png"/>
          <p:cNvPicPr preferRelativeResize="0"/>
          <p:nvPr/>
        </p:nvPicPr>
        <p:blipFill rotWithShape="1">
          <a:blip r:embed="rId3">
            <a:alphaModFix/>
          </a:blip>
          <a:srcRect b="0" l="28889" r="29526" t="59946"/>
          <a:stretch/>
        </p:blipFill>
        <p:spPr>
          <a:xfrm>
            <a:off x="6230150" y="1595138"/>
            <a:ext cx="2228574" cy="2557149"/>
          </a:xfrm>
          <a:prstGeom prst="rect">
            <a:avLst/>
          </a:prstGeom>
          <a:solidFill>
            <a:srgbClr val="C9DAF8"/>
          </a:solidFill>
          <a:ln>
            <a:noFill/>
          </a:ln>
        </p:spPr>
      </p:pic>
      <p:sp>
        <p:nvSpPr>
          <p:cNvPr id="152" name="Google Shape;152;p18"/>
          <p:cNvSpPr txBox="1"/>
          <p:nvPr/>
        </p:nvSpPr>
        <p:spPr>
          <a:xfrm>
            <a:off x="6452282" y="4152283"/>
            <a:ext cx="1652400" cy="606300"/>
          </a:xfrm>
          <a:prstGeom prst="rect">
            <a:avLst/>
          </a:prstGeom>
          <a:noFill/>
          <a:ln>
            <a:noFill/>
          </a:ln>
        </p:spPr>
        <p:txBody>
          <a:bodyPr anchorCtr="0" anchor="t" bIns="130800" lIns="130800" spcFirstLastPara="1" rIns="130800" wrap="square" tIns="130800">
            <a:noAutofit/>
          </a:bodyPr>
          <a:lstStyle/>
          <a:p>
            <a:pPr indent="0" lvl="0" marL="0" rtl="0" algn="l">
              <a:spcBef>
                <a:spcPts val="0"/>
              </a:spcBef>
              <a:spcAft>
                <a:spcPts val="0"/>
              </a:spcAft>
              <a:buNone/>
            </a:pPr>
            <a:r>
              <a:rPr lang="en" sz="1431">
                <a:solidFill>
                  <a:srgbClr val="C9DAF8"/>
                </a:solidFill>
              </a:rPr>
              <a:t>B. Visual written model answer</a:t>
            </a:r>
            <a:endParaRPr sz="1431">
              <a:solidFill>
                <a:srgbClr val="C9DAF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9"/>
          <p:cNvSpPr/>
          <p:nvPr/>
        </p:nvSpPr>
        <p:spPr>
          <a:xfrm>
            <a:off x="246150" y="689050"/>
            <a:ext cx="8657400" cy="4412100"/>
          </a:xfrm>
          <a:prstGeom prst="roundRect">
            <a:avLst>
              <a:gd fmla="val 0" name="adj"/>
            </a:avLst>
          </a:prstGeom>
          <a:solidFill>
            <a:srgbClr val="C9DAF8"/>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t/>
            </a:r>
            <a:endParaRPr sz="1200">
              <a:solidFill>
                <a:srgbClr val="073763"/>
              </a:solidFill>
            </a:endParaRPr>
          </a:p>
          <a:p>
            <a:pPr indent="0" lvl="0" marL="0" rtl="0" algn="just">
              <a:spcBef>
                <a:spcPts val="0"/>
              </a:spcBef>
              <a:spcAft>
                <a:spcPts val="0"/>
              </a:spcAft>
              <a:buNone/>
            </a:pPr>
            <a:r>
              <a:t/>
            </a:r>
            <a:endParaRPr sz="1200">
              <a:solidFill>
                <a:srgbClr val="073763"/>
              </a:solidFill>
            </a:endParaRPr>
          </a:p>
          <a:p>
            <a:pPr indent="0" lvl="0" marL="0" rtl="0" algn="just">
              <a:spcBef>
                <a:spcPts val="0"/>
              </a:spcBef>
              <a:spcAft>
                <a:spcPts val="0"/>
              </a:spcAft>
              <a:buNone/>
            </a:pPr>
            <a:r>
              <a:t/>
            </a:r>
            <a:endParaRPr sz="1000">
              <a:solidFill>
                <a:srgbClr val="073763"/>
              </a:solidFill>
            </a:endParaRPr>
          </a:p>
          <a:p>
            <a:pPr indent="0" lvl="0" marL="0" rtl="0" algn="just">
              <a:spcBef>
                <a:spcPts val="0"/>
              </a:spcBef>
              <a:spcAft>
                <a:spcPts val="0"/>
              </a:spcAft>
              <a:buNone/>
            </a:pPr>
            <a:r>
              <a:t/>
            </a:r>
            <a:endParaRPr sz="1000">
              <a:solidFill>
                <a:srgbClr val="073763"/>
              </a:solidFill>
            </a:endParaRPr>
          </a:p>
          <a:p>
            <a:pPr indent="0" lvl="0" marL="0" rtl="0" algn="l">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l">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l">
              <a:spcBef>
                <a:spcPts val="0"/>
              </a:spcBef>
              <a:spcAft>
                <a:spcPts val="0"/>
              </a:spcAft>
              <a:buNone/>
            </a:pPr>
            <a:r>
              <a:t/>
            </a:r>
            <a:endParaRPr sz="1000"/>
          </a:p>
        </p:txBody>
      </p:sp>
      <p:sp>
        <p:nvSpPr>
          <p:cNvPr id="158" name="Google Shape;158;p19"/>
          <p:cNvSpPr/>
          <p:nvPr/>
        </p:nvSpPr>
        <p:spPr>
          <a:xfrm>
            <a:off x="1731475" y="3614825"/>
            <a:ext cx="2840400" cy="654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59" name="Google Shape;159;p19"/>
          <p:cNvSpPr txBox="1"/>
          <p:nvPr/>
        </p:nvSpPr>
        <p:spPr>
          <a:xfrm>
            <a:off x="1731475" y="3614825"/>
            <a:ext cx="2986800" cy="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9DAF8"/>
                </a:solidFill>
              </a:rPr>
              <a:t>b</a:t>
            </a:r>
            <a:r>
              <a:rPr lang="en" sz="1600">
                <a:solidFill>
                  <a:srgbClr val="C9DAF8"/>
                </a:solidFill>
              </a:rPr>
              <a:t>. </a:t>
            </a:r>
            <a:r>
              <a:rPr lang="en" sz="1600">
                <a:solidFill>
                  <a:srgbClr val="C9DAF8"/>
                </a:solidFill>
              </a:rPr>
              <a:t>Justifying and interpreting: Group C skill</a:t>
            </a:r>
            <a:endParaRPr sz="1600">
              <a:solidFill>
                <a:srgbClr val="C9DAF8"/>
              </a:solidFill>
            </a:endParaRPr>
          </a:p>
        </p:txBody>
      </p:sp>
      <p:pic>
        <p:nvPicPr>
          <p:cNvPr id="160" name="Google Shape;160;p19" title="Screenshot 2026-07-23 at 12.43.24 pm.png"/>
          <p:cNvPicPr preferRelativeResize="0"/>
          <p:nvPr/>
        </p:nvPicPr>
        <p:blipFill>
          <a:blip r:embed="rId3">
            <a:alphaModFix/>
          </a:blip>
          <a:stretch>
            <a:fillRect/>
          </a:stretch>
        </p:blipFill>
        <p:spPr>
          <a:xfrm>
            <a:off x="525450" y="1687350"/>
            <a:ext cx="6773900" cy="1518167"/>
          </a:xfrm>
          <a:prstGeom prst="rect">
            <a:avLst/>
          </a:prstGeom>
          <a:noFill/>
          <a:ln>
            <a:noFill/>
          </a:ln>
        </p:spPr>
      </p:pic>
      <p:pic>
        <p:nvPicPr>
          <p:cNvPr id="161" name="Google Shape;161;p19" title="Screenshot 2026-07-23 at 12.41.13 pm.png"/>
          <p:cNvPicPr preferRelativeResize="0"/>
          <p:nvPr/>
        </p:nvPicPr>
        <p:blipFill>
          <a:blip r:embed="rId4">
            <a:alphaModFix/>
          </a:blip>
          <a:stretch>
            <a:fillRect/>
          </a:stretch>
        </p:blipFill>
        <p:spPr>
          <a:xfrm>
            <a:off x="4738375" y="2346450"/>
            <a:ext cx="3241323" cy="2517975"/>
          </a:xfrm>
          <a:prstGeom prst="rect">
            <a:avLst/>
          </a:prstGeom>
          <a:noFill/>
          <a:ln>
            <a:noFill/>
          </a:ln>
        </p:spPr>
      </p:pic>
      <p:sp>
        <p:nvSpPr>
          <p:cNvPr id="162" name="Google Shape;162;p19"/>
          <p:cNvSpPr/>
          <p:nvPr/>
        </p:nvSpPr>
        <p:spPr>
          <a:xfrm>
            <a:off x="2223744" y="2405855"/>
            <a:ext cx="2268000" cy="535200"/>
          </a:xfrm>
          <a:prstGeom prst="rect">
            <a:avLst/>
          </a:prstGeom>
          <a:solidFill>
            <a:srgbClr val="07376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63" name="Google Shape;163;p19"/>
          <p:cNvSpPr txBox="1"/>
          <p:nvPr/>
        </p:nvSpPr>
        <p:spPr>
          <a:xfrm>
            <a:off x="2185076" y="2346438"/>
            <a:ext cx="2386800" cy="4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9DAF8"/>
                </a:solidFill>
              </a:rPr>
              <a:t>a. </a:t>
            </a:r>
            <a:r>
              <a:rPr lang="en" sz="1600">
                <a:solidFill>
                  <a:srgbClr val="C9DAF8"/>
                </a:solidFill>
              </a:rPr>
              <a:t>Training inductive reasoning: Group C skill</a:t>
            </a:r>
            <a:endParaRPr sz="1600">
              <a:solidFill>
                <a:srgbClr val="C9DAF8"/>
              </a:solidFill>
            </a:endParaRPr>
          </a:p>
        </p:txBody>
      </p:sp>
      <p:sp>
        <p:nvSpPr>
          <p:cNvPr id="164" name="Google Shape;164;p19"/>
          <p:cNvSpPr txBox="1"/>
          <p:nvPr/>
        </p:nvSpPr>
        <p:spPr>
          <a:xfrm>
            <a:off x="246150" y="4864425"/>
            <a:ext cx="2986800" cy="1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073763"/>
                </a:solidFill>
              </a:rPr>
              <a:t>Newly written MCQ’s for summer workbook</a:t>
            </a:r>
            <a:endParaRPr sz="800">
              <a:solidFill>
                <a:srgbClr val="073763"/>
              </a:solidFill>
            </a:endParaRPr>
          </a:p>
        </p:txBody>
      </p:sp>
      <p:sp>
        <p:nvSpPr>
          <p:cNvPr id="165" name="Google Shape;165;p19"/>
          <p:cNvSpPr txBox="1"/>
          <p:nvPr/>
        </p:nvSpPr>
        <p:spPr>
          <a:xfrm>
            <a:off x="424500" y="803813"/>
            <a:ext cx="8300700" cy="562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600">
                <a:solidFill>
                  <a:srgbClr val="073763"/>
                </a:solidFill>
              </a:rPr>
              <a:t>2. Train the skills required early in first-year modules</a:t>
            </a:r>
            <a:endParaRPr sz="1600">
              <a:solidFill>
                <a:srgbClr val="073763"/>
              </a:solidFill>
            </a:endParaRPr>
          </a:p>
          <a:p>
            <a:pPr indent="0" lvl="0" marL="0" rtl="0" algn="just">
              <a:spcBef>
                <a:spcPts val="0"/>
              </a:spcBef>
              <a:spcAft>
                <a:spcPts val="0"/>
              </a:spcAft>
              <a:buNone/>
            </a:pPr>
            <a:r>
              <a:rPr lang="en" sz="1600">
                <a:solidFill>
                  <a:srgbClr val="073763"/>
                </a:solidFill>
              </a:rPr>
              <a:t>	</a:t>
            </a:r>
            <a:endParaRPr sz="1600">
              <a:solidFill>
                <a:srgbClr val="073763"/>
              </a:solidFill>
            </a:endParaRPr>
          </a:p>
        </p:txBody>
      </p:sp>
      <p:sp>
        <p:nvSpPr>
          <p:cNvPr id="166" name="Google Shape;166;p19"/>
          <p:cNvSpPr txBox="1"/>
          <p:nvPr>
            <p:ph type="title"/>
          </p:nvPr>
        </p:nvSpPr>
        <p:spPr>
          <a:xfrm>
            <a:off x="370611" y="-22487"/>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Suggested Design Principle 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p:nvPr/>
        </p:nvSpPr>
        <p:spPr>
          <a:xfrm>
            <a:off x="251100" y="768425"/>
            <a:ext cx="8641800" cy="4332600"/>
          </a:xfrm>
          <a:prstGeom prst="roundRect">
            <a:avLst>
              <a:gd fmla="val 0" name="adj"/>
            </a:avLst>
          </a:prstGeom>
          <a:solidFill>
            <a:srgbClr val="C9DAF8"/>
          </a:solidFill>
          <a:ln>
            <a:noFill/>
          </a:ln>
        </p:spPr>
        <p:txBody>
          <a:bodyPr anchorCtr="0" anchor="ctr" bIns="77000" lIns="77000" spcFirstLastPara="1" rIns="77000" wrap="square" tIns="77000">
            <a:noAutofit/>
          </a:bodyPr>
          <a:lstStyle/>
          <a:p>
            <a:pPr indent="0" lvl="0" marL="0" rtl="0" algn="ctr">
              <a:spcBef>
                <a:spcPts val="0"/>
              </a:spcBef>
              <a:spcAft>
                <a:spcPts val="0"/>
              </a:spcAft>
              <a:buNone/>
            </a:pPr>
            <a:r>
              <a:t/>
            </a:r>
            <a:endParaRPr sz="842"/>
          </a:p>
        </p:txBody>
      </p:sp>
      <p:pic>
        <p:nvPicPr>
          <p:cNvPr id="172" name="Google Shape;172;p20" title="Screenshot 2026-07-23 at 1.02.00 pm.png"/>
          <p:cNvPicPr preferRelativeResize="0"/>
          <p:nvPr/>
        </p:nvPicPr>
        <p:blipFill rotWithShape="1">
          <a:blip r:embed="rId3">
            <a:alphaModFix/>
          </a:blip>
          <a:srcRect b="82154" l="16157" r="21797" t="0"/>
          <a:stretch/>
        </p:blipFill>
        <p:spPr>
          <a:xfrm>
            <a:off x="407400" y="1541716"/>
            <a:ext cx="5457600" cy="1832185"/>
          </a:xfrm>
          <a:prstGeom prst="rect">
            <a:avLst/>
          </a:prstGeom>
          <a:noFill/>
          <a:ln>
            <a:noFill/>
          </a:ln>
        </p:spPr>
      </p:pic>
      <p:sp>
        <p:nvSpPr>
          <p:cNvPr id="173" name="Google Shape;173;p20"/>
          <p:cNvSpPr txBox="1"/>
          <p:nvPr/>
        </p:nvSpPr>
        <p:spPr>
          <a:xfrm>
            <a:off x="437813" y="3191975"/>
            <a:ext cx="3010200" cy="557100"/>
          </a:xfrm>
          <a:prstGeom prst="rect">
            <a:avLst/>
          </a:prstGeom>
          <a:solidFill>
            <a:srgbClr val="073763"/>
          </a:solidFill>
          <a:ln>
            <a:noFill/>
          </a:ln>
        </p:spPr>
        <p:txBody>
          <a:bodyPr anchorCtr="0" anchor="t" bIns="56975" lIns="56975" spcFirstLastPara="1" rIns="56975" wrap="square" tIns="56975">
            <a:noAutofit/>
          </a:bodyPr>
          <a:lstStyle/>
          <a:p>
            <a:pPr indent="0" lvl="0" marL="0" rtl="0" algn="l">
              <a:spcBef>
                <a:spcPts val="0"/>
              </a:spcBef>
              <a:spcAft>
                <a:spcPts val="0"/>
              </a:spcAft>
              <a:buNone/>
            </a:pPr>
            <a:r>
              <a:rPr lang="en" sz="1600">
                <a:solidFill>
                  <a:srgbClr val="C9DAF8"/>
                </a:solidFill>
              </a:rPr>
              <a:t>a. </a:t>
            </a:r>
            <a:r>
              <a:rPr lang="en" sz="1600">
                <a:solidFill>
                  <a:srgbClr val="C9DAF8"/>
                </a:solidFill>
              </a:rPr>
              <a:t>Specific feedback trees covering each type of mistake</a:t>
            </a:r>
            <a:endParaRPr sz="1600">
              <a:solidFill>
                <a:srgbClr val="C9DAF8"/>
              </a:solidFill>
            </a:endParaRPr>
          </a:p>
        </p:txBody>
      </p:sp>
      <p:sp>
        <p:nvSpPr>
          <p:cNvPr id="174" name="Google Shape;174;p20"/>
          <p:cNvSpPr txBox="1"/>
          <p:nvPr/>
        </p:nvSpPr>
        <p:spPr>
          <a:xfrm>
            <a:off x="251100" y="4908825"/>
            <a:ext cx="2706300" cy="192300"/>
          </a:xfrm>
          <a:prstGeom prst="rect">
            <a:avLst/>
          </a:prstGeom>
          <a:noFill/>
          <a:ln>
            <a:noFill/>
          </a:ln>
        </p:spPr>
        <p:txBody>
          <a:bodyPr anchorCtr="0" anchor="t" bIns="77000" lIns="77000" spcFirstLastPara="1" rIns="77000" wrap="square" tIns="77000">
            <a:noAutofit/>
          </a:bodyPr>
          <a:lstStyle/>
          <a:p>
            <a:pPr indent="0" lvl="0" marL="0" rtl="0" algn="l">
              <a:spcBef>
                <a:spcPts val="0"/>
              </a:spcBef>
              <a:spcAft>
                <a:spcPts val="0"/>
              </a:spcAft>
              <a:buNone/>
            </a:pPr>
            <a:r>
              <a:rPr lang="en" sz="800">
                <a:solidFill>
                  <a:srgbClr val="073763"/>
                </a:solidFill>
              </a:rPr>
              <a:t>Newly written feedback tree for diagnostic test MCQ</a:t>
            </a:r>
            <a:endParaRPr sz="800">
              <a:solidFill>
                <a:srgbClr val="073763"/>
              </a:solidFill>
            </a:endParaRPr>
          </a:p>
        </p:txBody>
      </p:sp>
      <p:sp>
        <p:nvSpPr>
          <p:cNvPr id="175" name="Google Shape;175;p20"/>
          <p:cNvSpPr txBox="1"/>
          <p:nvPr/>
        </p:nvSpPr>
        <p:spPr>
          <a:xfrm>
            <a:off x="407400" y="884975"/>
            <a:ext cx="5457600" cy="562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600">
                <a:solidFill>
                  <a:srgbClr val="073763"/>
                </a:solidFill>
              </a:rPr>
              <a:t>3. Thorough and specific feedback</a:t>
            </a:r>
            <a:endParaRPr sz="1600">
              <a:solidFill>
                <a:srgbClr val="073763"/>
              </a:solidFill>
            </a:endParaRPr>
          </a:p>
        </p:txBody>
      </p:sp>
      <p:pic>
        <p:nvPicPr>
          <p:cNvPr id="176" name="Google Shape;176;p20" title="Screenshot 2026-07-23 at 1.02.00 pm.png"/>
          <p:cNvPicPr preferRelativeResize="0"/>
          <p:nvPr/>
        </p:nvPicPr>
        <p:blipFill rotWithShape="1">
          <a:blip r:embed="rId3">
            <a:alphaModFix/>
          </a:blip>
          <a:srcRect b="0" l="0" r="0" t="27541"/>
          <a:stretch/>
        </p:blipFill>
        <p:spPr>
          <a:xfrm>
            <a:off x="3777850" y="1131300"/>
            <a:ext cx="4922776" cy="3540501"/>
          </a:xfrm>
          <a:prstGeom prst="rect">
            <a:avLst/>
          </a:prstGeom>
          <a:noFill/>
          <a:ln>
            <a:noFill/>
          </a:ln>
        </p:spPr>
      </p:pic>
      <p:sp>
        <p:nvSpPr>
          <p:cNvPr id="177" name="Google Shape;177;p20"/>
          <p:cNvSpPr txBox="1"/>
          <p:nvPr/>
        </p:nvSpPr>
        <p:spPr>
          <a:xfrm>
            <a:off x="1935200" y="4316025"/>
            <a:ext cx="4339500" cy="592800"/>
          </a:xfrm>
          <a:prstGeom prst="rect">
            <a:avLst/>
          </a:prstGeom>
          <a:solidFill>
            <a:srgbClr val="073763"/>
          </a:solidFill>
          <a:ln>
            <a:noFill/>
          </a:ln>
        </p:spPr>
        <p:txBody>
          <a:bodyPr anchorCtr="0" anchor="t" bIns="56975" lIns="56975" spcFirstLastPara="1" rIns="56975" wrap="square" tIns="56975">
            <a:noAutofit/>
          </a:bodyPr>
          <a:lstStyle/>
          <a:p>
            <a:pPr indent="0" lvl="0" marL="0" rtl="0" algn="l">
              <a:spcBef>
                <a:spcPts val="0"/>
              </a:spcBef>
              <a:spcAft>
                <a:spcPts val="0"/>
              </a:spcAft>
              <a:buNone/>
            </a:pPr>
            <a:r>
              <a:rPr lang="en" sz="1600">
                <a:solidFill>
                  <a:srgbClr val="C9DAF8"/>
                </a:solidFill>
              </a:rPr>
              <a:t>b</a:t>
            </a:r>
            <a:r>
              <a:rPr lang="en" sz="1600">
                <a:solidFill>
                  <a:srgbClr val="C9DAF8"/>
                </a:solidFill>
              </a:rPr>
              <a:t>. </a:t>
            </a:r>
            <a:r>
              <a:rPr lang="en" sz="1600">
                <a:solidFill>
                  <a:srgbClr val="C9DAF8"/>
                </a:solidFill>
              </a:rPr>
              <a:t>Clear thorough feedback asking students reflective questions, not just giving the answer</a:t>
            </a:r>
            <a:endParaRPr sz="1600">
              <a:solidFill>
                <a:srgbClr val="C9DAF8"/>
              </a:solidFill>
            </a:endParaRPr>
          </a:p>
        </p:txBody>
      </p:sp>
      <p:sp>
        <p:nvSpPr>
          <p:cNvPr id="178" name="Google Shape;178;p20"/>
          <p:cNvSpPr txBox="1"/>
          <p:nvPr>
            <p:ph type="title"/>
          </p:nvPr>
        </p:nvSpPr>
        <p:spPr>
          <a:xfrm>
            <a:off x="35345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Suggested Design Principle 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636300" y="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184" name="Google Shape;184;p21"/>
          <p:cNvSpPr txBox="1"/>
          <p:nvPr/>
        </p:nvSpPr>
        <p:spPr>
          <a:xfrm>
            <a:off x="764925" y="1320125"/>
            <a:ext cx="8169000" cy="361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1"/>
                </a:solidFill>
                <a:latin typeface="Lato"/>
                <a:ea typeface="Lato"/>
                <a:cs typeface="Lato"/>
                <a:sym typeface="Lato"/>
              </a:rPr>
              <a:t>[1]: Geoff Smith et al. “Constructing mathematical examinations to assess a range of knowledge and skills”. In:</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lang="en" sz="1300">
                <a:solidFill>
                  <a:schemeClr val="accent1"/>
                </a:solidFill>
                <a:latin typeface="Lato"/>
                <a:ea typeface="Lato"/>
                <a:cs typeface="Lato"/>
                <a:sym typeface="Lato"/>
              </a:rPr>
              <a:t>International Journal of Mathematical Education in Science and Technology 27.1 (1996), pp. 65–77.</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n" sz="1300">
                <a:solidFill>
                  <a:schemeClr val="accent1"/>
                </a:solidFill>
                <a:latin typeface="Lato"/>
                <a:ea typeface="Lato"/>
                <a:cs typeface="Lato"/>
                <a:sym typeface="Lato"/>
              </a:rPr>
              <a:t>[2]: Ellie Darlington. “The use of Bloom’s taxonomy in advanced mathematics questions”. In: Proceedings of the</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lang="en" sz="1300">
                <a:solidFill>
                  <a:schemeClr val="accent1"/>
                </a:solidFill>
                <a:latin typeface="Lato"/>
                <a:ea typeface="Lato"/>
                <a:cs typeface="Lato"/>
                <a:sym typeface="Lato"/>
              </a:rPr>
              <a:t>British Society for Research into Learning Mathematics 33.1 (2013), pp. 7–12.</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2"/>
          <p:cNvSpPr txBox="1"/>
          <p:nvPr>
            <p:ph type="ctrTitle"/>
          </p:nvPr>
        </p:nvSpPr>
        <p:spPr>
          <a:xfrm>
            <a:off x="99300" y="564625"/>
            <a:ext cx="6696000" cy="1138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Thank You For Listening!</a:t>
            </a:r>
            <a:endParaRPr/>
          </a:p>
        </p:txBody>
      </p:sp>
      <p:sp>
        <p:nvSpPr>
          <p:cNvPr id="190" name="Google Shape;190;p22"/>
          <p:cNvSpPr txBox="1"/>
          <p:nvPr>
            <p:ph idx="1" type="subTitle"/>
          </p:nvPr>
        </p:nvSpPr>
        <p:spPr>
          <a:xfrm>
            <a:off x="240925" y="4487400"/>
            <a:ext cx="2696700" cy="50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Charlotte’s Project’s GitHub</a:t>
            </a:r>
            <a:endParaRPr/>
          </a:p>
        </p:txBody>
      </p:sp>
      <p:pic>
        <p:nvPicPr>
          <p:cNvPr id="191" name="Google Shape;191;p22" title="Screenshot 2026-07-23 at 1.13.19 pm.png"/>
          <p:cNvPicPr preferRelativeResize="0"/>
          <p:nvPr/>
        </p:nvPicPr>
        <p:blipFill>
          <a:blip r:embed="rId3">
            <a:alphaModFix/>
          </a:blip>
          <a:stretch>
            <a:fillRect/>
          </a:stretch>
        </p:blipFill>
        <p:spPr>
          <a:xfrm>
            <a:off x="351574" y="2822702"/>
            <a:ext cx="1664700" cy="1664700"/>
          </a:xfrm>
          <a:prstGeom prst="rect">
            <a:avLst/>
          </a:prstGeom>
          <a:solidFill>
            <a:srgbClr val="D9D2E9"/>
          </a:solidFill>
          <a:ln>
            <a:noFill/>
          </a:ln>
        </p:spPr>
      </p:pic>
      <p:sp>
        <p:nvSpPr>
          <p:cNvPr id="192" name="Google Shape;192;p22"/>
          <p:cNvSpPr txBox="1"/>
          <p:nvPr/>
        </p:nvSpPr>
        <p:spPr>
          <a:xfrm>
            <a:off x="3078775" y="1578600"/>
            <a:ext cx="5739300" cy="29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accent1"/>
                </a:solidFill>
                <a:latin typeface="Lato"/>
                <a:ea typeface="Lato"/>
                <a:cs typeface="Lato"/>
                <a:sym typeface="Lato"/>
              </a:rPr>
              <a:t>Summary:</a:t>
            </a:r>
            <a:endParaRPr sz="1600" u="sng">
              <a:solidFill>
                <a:schemeClr val="accent1"/>
              </a:solidFill>
              <a:latin typeface="Lato"/>
              <a:ea typeface="Lato"/>
              <a:cs typeface="Lato"/>
              <a:sym typeface="Lato"/>
            </a:endParaRPr>
          </a:p>
          <a:p>
            <a:pPr indent="0" lvl="0" marL="0" rtl="0" algn="l">
              <a:spcBef>
                <a:spcPts val="0"/>
              </a:spcBef>
              <a:spcAft>
                <a:spcPts val="0"/>
              </a:spcAft>
              <a:buNone/>
            </a:pPr>
            <a:r>
              <a:t/>
            </a:r>
            <a:endParaRPr sz="1600" u="sng">
              <a:solidFill>
                <a:schemeClr val="accent1"/>
              </a:solidFill>
              <a:latin typeface="Lato"/>
              <a:ea typeface="Lato"/>
              <a:cs typeface="Lato"/>
              <a:sym typeface="Lato"/>
            </a:endParaRPr>
          </a:p>
          <a:p>
            <a:pPr indent="-298450" lvl="0" marL="457200" rtl="0" algn="just">
              <a:lnSpc>
                <a:spcPct val="115000"/>
              </a:lnSpc>
              <a:spcBef>
                <a:spcPts val="0"/>
              </a:spcBef>
              <a:spcAft>
                <a:spcPts val="0"/>
              </a:spcAft>
              <a:buClr>
                <a:schemeClr val="accent1"/>
              </a:buClr>
              <a:buSzPts val="1100"/>
              <a:buFont typeface="Lato"/>
              <a:buChar char="-"/>
            </a:pPr>
            <a:r>
              <a:rPr lang="en" sz="1100">
                <a:solidFill>
                  <a:srgbClr val="073763"/>
                </a:solidFill>
              </a:rPr>
              <a:t>The transition to university mathematics is challenging for international students due to different learning styles in high school curricula worldwide.</a:t>
            </a:r>
            <a:endParaRPr sz="1100">
              <a:solidFill>
                <a:srgbClr val="073763"/>
              </a:solidFill>
            </a:endParaRPr>
          </a:p>
          <a:p>
            <a:pPr indent="-298450" lvl="0" marL="457200" rtl="0" algn="just">
              <a:lnSpc>
                <a:spcPct val="115000"/>
              </a:lnSpc>
              <a:spcBef>
                <a:spcPts val="0"/>
              </a:spcBef>
              <a:spcAft>
                <a:spcPts val="0"/>
              </a:spcAft>
              <a:buClr>
                <a:srgbClr val="073763"/>
              </a:buClr>
              <a:buSzPts val="1100"/>
              <a:buChar char="-"/>
            </a:pPr>
            <a:r>
              <a:rPr lang="en" sz="1100">
                <a:solidFill>
                  <a:srgbClr val="073763"/>
                </a:solidFill>
              </a:rPr>
              <a:t>According to Charlotte’s comparative investigation, there are sig</a:t>
            </a:r>
            <a:r>
              <a:rPr lang="en" sz="1100">
                <a:solidFill>
                  <a:srgbClr val="1C4587"/>
                </a:solidFill>
              </a:rPr>
              <a:t>nificant gaps between the skills assessed in high schools internationally and early university assessments, but pre-university materials assess skills too similar to high school and do not bridge this gap.</a:t>
            </a:r>
            <a:endParaRPr sz="1100">
              <a:solidFill>
                <a:srgbClr val="1C4587"/>
              </a:solidFill>
            </a:endParaRPr>
          </a:p>
          <a:p>
            <a:pPr indent="-298450" lvl="0" marL="457200" rtl="0" algn="just">
              <a:lnSpc>
                <a:spcPct val="115000"/>
              </a:lnSpc>
              <a:spcBef>
                <a:spcPts val="0"/>
              </a:spcBef>
              <a:spcAft>
                <a:spcPts val="0"/>
              </a:spcAft>
              <a:buClr>
                <a:srgbClr val="1C4587"/>
              </a:buClr>
              <a:buSzPts val="1100"/>
              <a:buChar char="-"/>
            </a:pPr>
            <a:r>
              <a:rPr lang="en" sz="1100">
                <a:solidFill>
                  <a:srgbClr val="1C4587"/>
                </a:solidFill>
              </a:rPr>
              <a:t>We can however address and close this gap using well-designed transitional material as long as key design principles such as question design and feedback delivery are carefully considered.</a:t>
            </a:r>
            <a:endParaRPr sz="1100">
              <a:solidFill>
                <a:srgbClr val="1C4587"/>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